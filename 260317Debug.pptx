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4" r:id="rId3"/>
    <p:sldId id="261" r:id="rId4"/>
    <p:sldId id="263" r:id="rId5"/>
    <p:sldId id="266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52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43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32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172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66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29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84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45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72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30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61906-0800-407C-A032-9BF6EF09241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B4B3F-FF3C-4D9E-80A3-D31F7CFA1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86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ldb.llvm.org/use/map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EA400-2052-4C5E-B7F4-B189B6AE1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Debug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EA8FCD-F251-4A26-A9DA-87A4503703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HF bootcamp 5.2</a:t>
            </a:r>
          </a:p>
          <a:p>
            <a:r>
              <a:rPr lang="en-US" altLang="zh-CN" dirty="0"/>
              <a:t>by </a:t>
            </a:r>
            <a:r>
              <a:rPr lang="en-US" altLang="zh-CN" dirty="0" err="1"/>
              <a:t>Tianyuan</a:t>
            </a:r>
            <a:r>
              <a:rPr lang="en-US" altLang="zh-CN" dirty="0"/>
              <a:t> Zhang</a:t>
            </a:r>
          </a:p>
          <a:p>
            <a:r>
              <a:rPr lang="en-US" altLang="zh-CN" dirty="0"/>
              <a:t>04/28/2021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322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82D46-91A7-4E4F-BDA9-8FECCE75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Types of bug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961B94-79BA-44D1-A9D6-2BABB701C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Compile-time bug</a:t>
            </a:r>
          </a:p>
          <a:p>
            <a:pPr lvl="1"/>
            <a:r>
              <a:rPr lang="en-US" altLang="zh-CN" dirty="0"/>
              <a:t>Learn C++ language from compiler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Run-time bug</a:t>
            </a:r>
          </a:p>
          <a:p>
            <a:pPr lvl="1"/>
            <a:r>
              <a:rPr lang="en-US" altLang="zh-CN" dirty="0"/>
              <a:t>Exceptions</a:t>
            </a:r>
          </a:p>
          <a:p>
            <a:pPr lvl="1"/>
            <a:r>
              <a:rPr lang="en-US" altLang="zh-CN" dirty="0"/>
              <a:t>Wrong results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420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B9DF8-D3BD-4278-A98D-E6DEE2DD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Debug Strategies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C253D3-9D2B-4DE7-952E-0BD375BC0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Insert print statements</a:t>
            </a:r>
          </a:p>
          <a:p>
            <a:pPr lvl="1"/>
            <a:r>
              <a:rPr lang="en-US" altLang="zh-CN" dirty="0"/>
              <a:t>Useful for wrong results</a:t>
            </a:r>
          </a:p>
          <a:p>
            <a:pPr lvl="1"/>
            <a:r>
              <a:rPr lang="en-US" altLang="zh-CN" dirty="0"/>
              <a:t>Prints are usually human-readable (e.g. matrices)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Use debugger</a:t>
            </a:r>
          </a:p>
          <a:p>
            <a:pPr lvl="1"/>
            <a:r>
              <a:rPr lang="en-US" altLang="zh-CN" dirty="0"/>
              <a:t>Helpful for exceptions</a:t>
            </a:r>
          </a:p>
          <a:p>
            <a:pPr lvl="1"/>
            <a:r>
              <a:rPr lang="en-US" altLang="zh-CN" dirty="0"/>
              <a:t>Helps wrong results in simple cases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2903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7E367-DC7C-4C1B-B7D4-40945132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Compile for debugger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1CE5C0-0729-4BD7-9F04-D0AE70C32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6906"/>
            <a:ext cx="8217176" cy="1589224"/>
          </a:xfrm>
        </p:spPr>
        <p:txBody>
          <a:bodyPr>
            <a:normAutofit/>
          </a:bodyPr>
          <a:lstStyle/>
          <a:p>
            <a:r>
              <a:rPr lang="en-US" altLang="zh-CN" dirty="0"/>
              <a:t>Add </a:t>
            </a:r>
            <a:r>
              <a:rPr lang="en-US" altLang="zh-CN" dirty="0">
                <a:solidFill>
                  <a:schemeClr val="accent1"/>
                </a:solidFill>
                <a:latin typeface="Andale Mono" panose="020B0509000000000004" pitchFamily="49" charset="0"/>
              </a:rPr>
              <a:t>-g -O0 </a:t>
            </a:r>
            <a:r>
              <a:rPr lang="en-US" altLang="zh-CN" dirty="0"/>
              <a:t>in compilation flags</a:t>
            </a:r>
          </a:p>
          <a:p>
            <a:r>
              <a:rPr lang="en-US" altLang="zh-CN" dirty="0">
                <a:solidFill>
                  <a:schemeClr val="accent1"/>
                </a:solidFill>
                <a:latin typeface="Andale Mono" panose="020B0509000000000004" pitchFamily="49" charset="0"/>
              </a:rPr>
              <a:t>-DCMAKE_BUILD_TYPE=Debug</a:t>
            </a:r>
            <a:r>
              <a:rPr lang="en-US" altLang="zh-CN" dirty="0">
                <a:solidFill>
                  <a:srgbClr val="FF0000"/>
                </a:solidFill>
                <a:latin typeface="Andale Mono" panose="020B0509000000000004" pitchFamily="49" charset="0"/>
              </a:rPr>
              <a:t> </a:t>
            </a:r>
            <a:r>
              <a:rPr lang="en-US" altLang="zh-CN" dirty="0"/>
              <a:t>in </a:t>
            </a:r>
            <a:r>
              <a:rPr lang="en-US" altLang="zh-CN" dirty="0" err="1"/>
              <a:t>cmake</a:t>
            </a:r>
            <a:r>
              <a:rPr lang="en-US" altLang="zh-CN" dirty="0"/>
              <a:t> setup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D4AAFE4-05FF-D946-813B-3550DD96C368}"/>
              </a:ext>
            </a:extLst>
          </p:cNvPr>
          <p:cNvSpPr txBox="1">
            <a:spLocks/>
          </p:cNvSpPr>
          <p:nvPr/>
        </p:nvSpPr>
        <p:spPr>
          <a:xfrm>
            <a:off x="628650" y="2724356"/>
            <a:ext cx="7886700" cy="883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Start the debugger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B10184B-6CD6-9A4A-848F-2DDBD4E1E05D}"/>
              </a:ext>
            </a:extLst>
          </p:cNvPr>
          <p:cNvSpPr txBox="1">
            <a:spLocks/>
          </p:cNvSpPr>
          <p:nvPr/>
        </p:nvSpPr>
        <p:spPr>
          <a:xfrm>
            <a:off x="781050" y="3607904"/>
            <a:ext cx="7886700" cy="27214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Without command line </a:t>
            </a:r>
            <a:r>
              <a:rPr lang="en-US" altLang="zh-CN" dirty="0" err="1"/>
              <a:t>args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 err="1">
                <a:latin typeface="Andale Mono" panose="020B0509000000000004" pitchFamily="49" charset="0"/>
              </a:rPr>
              <a:t>gdb</a:t>
            </a:r>
            <a:r>
              <a:rPr lang="en-US" altLang="zh-CN" dirty="0">
                <a:latin typeface="Andale Mono" panose="020B0509000000000004" pitchFamily="49" charset="0"/>
              </a:rPr>
              <a:t> &lt;executable&gt;</a:t>
            </a:r>
          </a:p>
          <a:p>
            <a:pPr lvl="1"/>
            <a:r>
              <a:rPr lang="en-US" altLang="zh-CN" dirty="0" err="1">
                <a:latin typeface="Andale Mono" panose="020B0509000000000004" pitchFamily="49" charset="0"/>
              </a:rPr>
              <a:t>lldb</a:t>
            </a:r>
            <a:r>
              <a:rPr lang="en-US" altLang="zh-CN" dirty="0">
                <a:latin typeface="Andale Mono" panose="020B0509000000000004" pitchFamily="49" charset="0"/>
              </a:rPr>
              <a:t> &lt;executable&gt;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With command line </a:t>
            </a:r>
            <a:r>
              <a:rPr lang="en-US" altLang="zh-CN" dirty="0" err="1"/>
              <a:t>args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 err="1">
                <a:latin typeface="Andale Mono" panose="020B0509000000000004" pitchFamily="49" charset="0"/>
              </a:rPr>
              <a:t>gdb</a:t>
            </a:r>
            <a:r>
              <a:rPr lang="en-US" altLang="zh-CN" dirty="0">
                <a:latin typeface="Andale Mono" panose="020B0509000000000004" pitchFamily="49" charset="0"/>
              </a:rPr>
              <a:t> </a:t>
            </a:r>
            <a:r>
              <a:rPr lang="en-US" altLang="zh-CN" dirty="0">
                <a:solidFill>
                  <a:schemeClr val="accent1"/>
                </a:solidFill>
                <a:latin typeface="Andale Mono" panose="020B0509000000000004" pitchFamily="49" charset="0"/>
              </a:rPr>
              <a:t>--</a:t>
            </a:r>
            <a:r>
              <a:rPr lang="en-US" altLang="zh-CN" dirty="0" err="1">
                <a:solidFill>
                  <a:schemeClr val="accent1"/>
                </a:solidFill>
                <a:latin typeface="Andale Mono" panose="020B0509000000000004" pitchFamily="49" charset="0"/>
              </a:rPr>
              <a:t>args</a:t>
            </a:r>
            <a:r>
              <a:rPr lang="en-US" altLang="zh-CN" dirty="0">
                <a:solidFill>
                  <a:schemeClr val="accent1"/>
                </a:solidFill>
                <a:latin typeface="Andale Mono" panose="020B0509000000000004" pitchFamily="49" charset="0"/>
              </a:rPr>
              <a:t> </a:t>
            </a:r>
            <a:r>
              <a:rPr lang="en-US" altLang="zh-CN" dirty="0">
                <a:latin typeface="Andale Mono" panose="020B0509000000000004" pitchFamily="49" charset="0"/>
              </a:rPr>
              <a:t>&lt;executable&gt; &lt;</a:t>
            </a:r>
            <a:r>
              <a:rPr lang="en-US" altLang="zh-CN" dirty="0" err="1">
                <a:latin typeface="Andale Mono" panose="020B0509000000000004" pitchFamily="49" charset="0"/>
              </a:rPr>
              <a:t>args</a:t>
            </a:r>
            <a:r>
              <a:rPr lang="en-US" altLang="zh-CN" dirty="0">
                <a:latin typeface="Andale Mono" panose="020B0509000000000004" pitchFamily="49" charset="0"/>
              </a:rPr>
              <a:t>…&gt;</a:t>
            </a:r>
          </a:p>
          <a:p>
            <a:pPr lvl="1"/>
            <a:r>
              <a:rPr lang="en-US" altLang="zh-CN" dirty="0" err="1">
                <a:latin typeface="Andale Mono" panose="020B0509000000000004" pitchFamily="49" charset="0"/>
              </a:rPr>
              <a:t>lldb</a:t>
            </a:r>
            <a:r>
              <a:rPr lang="en-US" altLang="zh-CN" dirty="0">
                <a:latin typeface="Andale Mono" panose="020B0509000000000004" pitchFamily="49" charset="0"/>
              </a:rPr>
              <a:t> &lt;executable&gt; </a:t>
            </a:r>
            <a:r>
              <a:rPr lang="en-US" altLang="zh-CN" dirty="0">
                <a:solidFill>
                  <a:schemeClr val="accent1"/>
                </a:solidFill>
                <a:latin typeface="Andale Mono" panose="020B0509000000000004" pitchFamily="49" charset="0"/>
              </a:rPr>
              <a:t>--</a:t>
            </a:r>
            <a:r>
              <a:rPr lang="en-US" altLang="zh-CN" dirty="0">
                <a:latin typeface="Andale Mono" panose="020B0509000000000004" pitchFamily="49" charset="0"/>
              </a:rPr>
              <a:t> &lt;</a:t>
            </a:r>
            <a:r>
              <a:rPr lang="en-US" altLang="zh-CN" dirty="0" err="1">
                <a:latin typeface="Andale Mono" panose="020B0509000000000004" pitchFamily="49" charset="0"/>
              </a:rPr>
              <a:t>args</a:t>
            </a:r>
            <a:r>
              <a:rPr lang="en-US" altLang="zh-CN" dirty="0">
                <a:latin typeface="Andale Mono" panose="020B0509000000000004" pitchFamily="49" charset="0"/>
              </a:rPr>
              <a:t>…&gt;</a:t>
            </a:r>
            <a:endParaRPr lang="zh-CN" altLang="en-US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75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33DE-8F6B-EF4E-BFCC-E543F53B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48665"/>
          </a:xfrm>
        </p:spPr>
        <p:txBody>
          <a:bodyPr>
            <a:normAutofit/>
          </a:bodyPr>
          <a:lstStyle/>
          <a:p>
            <a:r>
              <a:rPr lang="en-US" sz="2800" dirty="0"/>
              <a:t>Debugger cheat sheet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5375BBE-8026-B246-BA31-35256D23F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905" y="494057"/>
            <a:ext cx="3943350" cy="390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hlinkClick r:id="rId2"/>
              </a:rPr>
              <a:t>https://lldb.llvm.org/use/map.html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8DCE858-8D8F-864B-B30A-879C130CCFD1}"/>
              </a:ext>
            </a:extLst>
          </p:cNvPr>
          <p:cNvSpPr txBox="1">
            <a:spLocks/>
          </p:cNvSpPr>
          <p:nvPr/>
        </p:nvSpPr>
        <p:spPr>
          <a:xfrm>
            <a:off x="628650" y="1142722"/>
            <a:ext cx="2820228" cy="547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/>
              <a:t>Execution commands</a:t>
            </a:r>
            <a:endParaRPr lang="zh-CN" altLang="en-US" sz="24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0DB99F0-75F5-0F4F-9EAC-C7A21A18C60A}"/>
              </a:ext>
            </a:extLst>
          </p:cNvPr>
          <p:cNvSpPr txBox="1">
            <a:spLocks/>
          </p:cNvSpPr>
          <p:nvPr/>
        </p:nvSpPr>
        <p:spPr>
          <a:xfrm>
            <a:off x="628650" y="1690689"/>
            <a:ext cx="3515967" cy="2289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1"/>
                </a:solidFill>
                <a:latin typeface="Andale Mono" panose="020B0509000000000004" pitchFamily="49" charset="0"/>
              </a:rPr>
              <a:t>r</a:t>
            </a:r>
            <a:r>
              <a:rPr lang="en-US" altLang="zh-CN" sz="2000" dirty="0">
                <a:latin typeface="Andale Mono" panose="020B0509000000000004" pitchFamily="49" charset="0"/>
              </a:rPr>
              <a:t>:</a:t>
            </a:r>
            <a:r>
              <a:rPr lang="en-US" altLang="zh-CN" sz="2000" dirty="0"/>
              <a:t> run</a:t>
            </a:r>
          </a:p>
          <a:p>
            <a:pPr lvl="1"/>
            <a:r>
              <a:rPr lang="en-US" altLang="zh-CN" sz="2000" dirty="0"/>
              <a:t>Start the program from the beginning</a:t>
            </a:r>
          </a:p>
          <a:p>
            <a:r>
              <a:rPr lang="en-US" altLang="zh-CN" sz="2000" dirty="0">
                <a:solidFill>
                  <a:schemeClr val="accent1"/>
                </a:solidFill>
                <a:latin typeface="Andale Mono" panose="020B0509000000000004" pitchFamily="49" charset="0"/>
              </a:rPr>
              <a:t>c</a:t>
            </a:r>
            <a:r>
              <a:rPr lang="en-US" altLang="zh-CN" sz="2000" dirty="0">
                <a:latin typeface="Andale Mono" panose="020B0509000000000004" pitchFamily="49" charset="0"/>
              </a:rPr>
              <a:t>:</a:t>
            </a:r>
            <a:r>
              <a:rPr lang="en-US" altLang="zh-CN" sz="2000" dirty="0"/>
              <a:t> continue</a:t>
            </a:r>
          </a:p>
          <a:p>
            <a:pPr lvl="1"/>
            <a:r>
              <a:rPr lang="en-US" altLang="zh-CN" sz="2000" dirty="0"/>
              <a:t>Continue running from the current stage</a:t>
            </a:r>
            <a:endParaRPr lang="zh-CN" altLang="en-US" sz="2000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ED74A2B-4AC4-6D4B-B67D-547BA9422142}"/>
              </a:ext>
            </a:extLst>
          </p:cNvPr>
          <p:cNvSpPr txBox="1">
            <a:spLocks/>
          </p:cNvSpPr>
          <p:nvPr/>
        </p:nvSpPr>
        <p:spPr>
          <a:xfrm>
            <a:off x="628649" y="4059655"/>
            <a:ext cx="3515968" cy="468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Browse commands</a:t>
            </a:r>
            <a:endParaRPr lang="zh-CN" altLang="en-US" sz="2400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E64A385-1356-8E4C-85A6-BE457AE6BE5D}"/>
              </a:ext>
            </a:extLst>
          </p:cNvPr>
          <p:cNvSpPr txBox="1">
            <a:spLocks/>
          </p:cNvSpPr>
          <p:nvPr/>
        </p:nvSpPr>
        <p:spPr>
          <a:xfrm>
            <a:off x="628649" y="4565249"/>
            <a:ext cx="3834020" cy="1841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1"/>
                </a:solidFill>
                <a:latin typeface="Andale Mono" panose="020B0509000000000004" pitchFamily="49" charset="0"/>
              </a:rPr>
              <a:t>l</a:t>
            </a:r>
            <a:r>
              <a:rPr lang="en-US" altLang="zh-CN" sz="2000" dirty="0">
                <a:latin typeface="Andale Mono" panose="020B0509000000000004" pitchFamily="49" charset="0"/>
              </a:rPr>
              <a:t> :</a:t>
            </a:r>
            <a:r>
              <a:rPr lang="en-US" altLang="zh-CN" sz="2000" dirty="0"/>
              <a:t> print code around</a:t>
            </a:r>
          </a:p>
          <a:p>
            <a:r>
              <a:rPr lang="en-US" altLang="zh-CN" sz="2000" dirty="0" err="1">
                <a:solidFill>
                  <a:schemeClr val="accent1"/>
                </a:solidFill>
                <a:latin typeface="Andale Mono" panose="020B0509000000000004" pitchFamily="49" charset="0"/>
              </a:rPr>
              <a:t>bt</a:t>
            </a:r>
            <a:r>
              <a:rPr lang="en-US" altLang="zh-CN" sz="2000" dirty="0">
                <a:latin typeface="Andale Mono" panose="020B0509000000000004" pitchFamily="49" charset="0"/>
              </a:rPr>
              <a:t>:</a:t>
            </a:r>
            <a:r>
              <a:rPr lang="en-US" altLang="zh-CN" sz="2000" dirty="0"/>
              <a:t> back trace</a:t>
            </a:r>
          </a:p>
          <a:p>
            <a:r>
              <a:rPr lang="en-US" altLang="zh-CN" sz="2000" dirty="0">
                <a:solidFill>
                  <a:schemeClr val="accent1"/>
                </a:solidFill>
                <a:latin typeface="Andale Mono" panose="020B0509000000000004" pitchFamily="49" charset="0"/>
              </a:rPr>
              <a:t>f</a:t>
            </a:r>
            <a:r>
              <a:rPr lang="en-US" altLang="zh-CN" sz="2000" dirty="0">
                <a:latin typeface="Andale Mono" panose="020B0509000000000004" pitchFamily="49" charset="0"/>
              </a:rPr>
              <a:t> :</a:t>
            </a:r>
            <a:r>
              <a:rPr lang="en-US" altLang="zh-CN" sz="2000" dirty="0"/>
              <a:t> select frame</a:t>
            </a:r>
          </a:p>
          <a:p>
            <a:r>
              <a:rPr lang="en-US" altLang="zh-CN" sz="2000" dirty="0">
                <a:solidFill>
                  <a:schemeClr val="accent1"/>
                </a:solidFill>
                <a:latin typeface="Andale Mono" panose="020B0509000000000004" pitchFamily="49" charset="0"/>
              </a:rPr>
              <a:t>p</a:t>
            </a:r>
            <a:r>
              <a:rPr lang="en-US" altLang="zh-CN" sz="2000" dirty="0">
                <a:latin typeface="Andale Mono" panose="020B0509000000000004" pitchFamily="49" charset="0"/>
              </a:rPr>
              <a:t> :</a:t>
            </a:r>
            <a:r>
              <a:rPr lang="en-US" altLang="zh-CN" sz="2000" dirty="0"/>
              <a:t> print/evaluate</a:t>
            </a:r>
            <a:endParaRPr lang="zh-CN" altLang="en-US" sz="200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E170580-1448-F140-B158-A13F20DEBDE6}"/>
              </a:ext>
            </a:extLst>
          </p:cNvPr>
          <p:cNvSpPr txBox="1">
            <a:spLocks/>
          </p:cNvSpPr>
          <p:nvPr/>
        </p:nvSpPr>
        <p:spPr>
          <a:xfrm>
            <a:off x="4681330" y="3108604"/>
            <a:ext cx="3187976" cy="547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Breakpoint command</a:t>
            </a:r>
            <a:endParaRPr lang="zh-CN" altLang="en-US" sz="2400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E79E75E6-05A0-A44E-B4D4-744D72B673BA}"/>
              </a:ext>
            </a:extLst>
          </p:cNvPr>
          <p:cNvSpPr txBox="1">
            <a:spLocks/>
          </p:cNvSpPr>
          <p:nvPr/>
        </p:nvSpPr>
        <p:spPr>
          <a:xfrm>
            <a:off x="4696240" y="3656571"/>
            <a:ext cx="4052680" cy="2445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1"/>
                </a:solidFill>
                <a:latin typeface="Andale Mono" panose="020B0509000000000004" pitchFamily="49" charset="0"/>
              </a:rPr>
              <a:t>b</a:t>
            </a:r>
            <a:r>
              <a:rPr lang="en-US" altLang="zh-CN" sz="2000" dirty="0">
                <a:latin typeface="Andale Mono" panose="020B0509000000000004" pitchFamily="49" charset="0"/>
              </a:rPr>
              <a:t>:</a:t>
            </a:r>
            <a:r>
              <a:rPr lang="en-US" altLang="zh-CN" sz="2000" dirty="0"/>
              <a:t> Set up a break point</a:t>
            </a:r>
            <a:endParaRPr lang="zh-CN" altLang="en-US" sz="2000" dirty="0"/>
          </a:p>
          <a:p>
            <a:pPr lvl="1"/>
            <a:r>
              <a:rPr lang="en-US" altLang="zh-CN" sz="2000" dirty="0"/>
              <a:t>break at function</a:t>
            </a:r>
          </a:p>
          <a:p>
            <a:pPr lvl="2"/>
            <a:r>
              <a:rPr lang="en-US" altLang="zh-CN" dirty="0">
                <a:latin typeface="Andale Mono" panose="020B0509000000000004" pitchFamily="49" charset="0"/>
              </a:rPr>
              <a:t>b </a:t>
            </a:r>
            <a:r>
              <a:rPr lang="en-US" altLang="zh-CN" dirty="0" err="1">
                <a:latin typeface="Andale Mono" panose="020B0509000000000004" pitchFamily="49" charset="0"/>
              </a:rPr>
              <a:t>func</a:t>
            </a:r>
            <a:endParaRPr lang="en-US" altLang="zh-CN" dirty="0">
              <a:latin typeface="Andale Mono" panose="020B0509000000000004" pitchFamily="49" charset="0"/>
            </a:endParaRPr>
          </a:p>
          <a:p>
            <a:pPr lvl="1"/>
            <a:r>
              <a:rPr lang="en-US" altLang="zh-CN" sz="2000" dirty="0"/>
              <a:t>break at line</a:t>
            </a:r>
          </a:p>
          <a:p>
            <a:pPr lvl="2"/>
            <a:r>
              <a:rPr lang="en-US" altLang="zh-CN" dirty="0">
                <a:latin typeface="Andale Mono" panose="020B0509000000000004" pitchFamily="49" charset="0"/>
              </a:rPr>
              <a:t>b src.cxx:123</a:t>
            </a:r>
          </a:p>
          <a:p>
            <a:pPr lvl="2"/>
            <a:r>
              <a:rPr lang="en-US" altLang="zh-CN" dirty="0"/>
              <a:t>Do not break at empty lines, comments lines, variable declarations.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0C5C150F-805F-0546-A7E2-600B1E06C42B}"/>
              </a:ext>
            </a:extLst>
          </p:cNvPr>
          <p:cNvSpPr txBox="1">
            <a:spLocks/>
          </p:cNvSpPr>
          <p:nvPr/>
        </p:nvSpPr>
        <p:spPr>
          <a:xfrm>
            <a:off x="4681330" y="1142722"/>
            <a:ext cx="3347002" cy="468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Step-by-step commands</a:t>
            </a:r>
            <a:endParaRPr lang="zh-CN" altLang="en-US" sz="2400" dirty="0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2D218590-5BAE-9C4B-BD7A-9BA7A66C2000}"/>
              </a:ext>
            </a:extLst>
          </p:cNvPr>
          <p:cNvSpPr txBox="1">
            <a:spLocks/>
          </p:cNvSpPr>
          <p:nvPr/>
        </p:nvSpPr>
        <p:spPr>
          <a:xfrm>
            <a:off x="4681330" y="1691448"/>
            <a:ext cx="3217793" cy="133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1"/>
                </a:solidFill>
                <a:latin typeface="Andale Mono" panose="020B0509000000000004" pitchFamily="49" charset="0"/>
              </a:rPr>
              <a:t>n</a:t>
            </a:r>
            <a:r>
              <a:rPr lang="en-US" altLang="zh-CN" sz="2000" dirty="0">
                <a:latin typeface="Andale Mono" panose="020B0509000000000004" pitchFamily="49" charset="0"/>
              </a:rPr>
              <a:t>  :</a:t>
            </a:r>
            <a:r>
              <a:rPr lang="en-US" altLang="zh-CN" sz="2000" dirty="0"/>
              <a:t> Step over</a:t>
            </a:r>
          </a:p>
          <a:p>
            <a:r>
              <a:rPr lang="en-US" altLang="zh-CN" sz="2000" dirty="0">
                <a:solidFill>
                  <a:schemeClr val="accent1"/>
                </a:solidFill>
                <a:latin typeface="Andale Mono" panose="020B0509000000000004" pitchFamily="49" charset="0"/>
              </a:rPr>
              <a:t>s</a:t>
            </a:r>
            <a:r>
              <a:rPr lang="en-US" altLang="zh-CN" sz="2000" dirty="0">
                <a:latin typeface="Andale Mono" panose="020B0509000000000004" pitchFamily="49" charset="0"/>
              </a:rPr>
              <a:t>  :</a:t>
            </a:r>
            <a:r>
              <a:rPr lang="en-US" altLang="zh-CN" sz="2000" dirty="0"/>
              <a:t> Step into</a:t>
            </a:r>
          </a:p>
          <a:p>
            <a:r>
              <a:rPr lang="en-US" altLang="zh-CN" sz="2000" dirty="0">
                <a:solidFill>
                  <a:schemeClr val="accent1"/>
                </a:solidFill>
                <a:latin typeface="Andale Mono" panose="020B0509000000000004" pitchFamily="49" charset="0"/>
              </a:rPr>
              <a:t>fin</a:t>
            </a:r>
            <a:r>
              <a:rPr lang="en-US" altLang="zh-CN" sz="2000" dirty="0">
                <a:latin typeface="Andale Mono" panose="020B0509000000000004" pitchFamily="49" charset="0"/>
              </a:rPr>
              <a:t>:</a:t>
            </a:r>
            <a:r>
              <a:rPr lang="en-US" altLang="zh-CN" sz="2000" dirty="0"/>
              <a:t> Step out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26630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</TotalTime>
  <Words>221</Words>
  <Application>Microsoft Macintosh PowerPoint</Application>
  <PresentationFormat>On-screen Show (4:3)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Andale Mono</vt:lpstr>
      <vt:lpstr>Arial</vt:lpstr>
      <vt:lpstr>Calibri</vt:lpstr>
      <vt:lpstr>Calibri Light</vt:lpstr>
      <vt:lpstr>Office 主题​​</vt:lpstr>
      <vt:lpstr>Debug</vt:lpstr>
      <vt:lpstr>Types of bug</vt:lpstr>
      <vt:lpstr>Debug Strategies</vt:lpstr>
      <vt:lpstr>Compile for debugger</vt:lpstr>
      <vt:lpstr>Debugger cheat 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Dedug</dc:title>
  <dc:creator>Tianyuan Zhang</dc:creator>
  <cp:lastModifiedBy>Tianyuan Zhang</cp:lastModifiedBy>
  <cp:revision>28</cp:revision>
  <dcterms:created xsi:type="dcterms:W3CDTF">2021-04-28T10:04:49Z</dcterms:created>
  <dcterms:modified xsi:type="dcterms:W3CDTF">2026-03-17T18:04:05Z</dcterms:modified>
</cp:coreProperties>
</file>